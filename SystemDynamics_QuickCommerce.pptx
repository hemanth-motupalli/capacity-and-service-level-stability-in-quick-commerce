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the team. State the project title clearly.
This study uses System Dynamics to examine operational instability in quick commerce — the 10-20 minute delivery sector.
Mention that you will walk through: the real problem, a causal model, simulations, and policy insights.
This is a graded seminar — maintain professional pace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"You've probably ordered from Blinkit or Zepto — but have you wondered how they keep that 20-minute promise?"
Highlight the three stats as proof of scale and ambition.
Then pivot to the challenge: real operations face demand spikes, hiring delays, and inventory constraints.
The central insight to seed here: these are not independent problems — they are connected through feedback loops. That is exactly what SD reveals.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precisely: this is about dynamic instability, not just capacity planning.
Emphasize: the backlog doesn't just grow — it oscillates due to delayed corrections. That oscillation is the disease, not the symptom.
The research question is the compass for the rest of the presentation — read it slowly.
SD is the right tool because it explicitly models delays and feedback, which drive the instability we observe.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quadrant in order: Demand → Workforce → Inventory → Delivery System.
Key message: none of these operate independently. Each affects the others through feedback.
Use the word 'interact' deliberately — the professor will be listening for systemic thinking.
Foreshadow: "We'll see exactly how these interactions cause instability in the CLD slide."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these are NOT independent problems — they are connected.
The delay in workforce adjustment is the most critical structural driver of instability.
The capacity utilization trap (challenge 4) is a reinforcing oscillation — introduce the term "feedback-induced oscillation" here.
Real-world hook: "This is why Blinkit sometimes gives you a 45-minute ETA instead of 10 — the system has entered an unstable state."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justifies the methodology to the professor — don't rush it.
Feedback: "In quick commerce, the system corrects itself — but the correction takes time, and that lag causes the instability."
Delays: "We model hiring delay and replenishment lead time explicitly as time constants."
Nonlinearity: "The quadratic delivery delay function captures congestion realistically."
Close with the Sterman quote — it summarizes the SD philosophy elegantly.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architecture before diving into equations or diagrams.
Stocks are the 'memory' of the system — Backlog, Workforce, Inventory.
Flows change stocks: arrivals increase backlog, fulfillment reduces it.
The 6 feedback loops (shown right) are the engine of the model — they cause behavior.
Mention Vensim: "We used Vensim to encode this structure and simulate over a 100-hour horizon."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CLD systematically. Start with B1: "When backlog rises, delay increases → service falls → demand drops → backlog stabilizes."
B2: "When backlog is high, managers hire more riders → capacity grows → backlog falls."
B3: "High utilization → more delay → service degrades → demand moderates → utilization falls."
All loops are BALANCING — they correct themselves. BUT: the delays between cause and effect create oscillations.
Invite the professor to see: "It's not the loops that cause instability — it's the delay inside each loop."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Stocks are drawn as rectangles (INTEG in Vensim) — they accumulate over time.
Flows are the valves (rates) that fill or drain each stock.
The quadratic delivery delay function is a key modeling choice — mention it: "Linear delay would underestimate congestion at high utilization."
Service Level connects Delivery Delay to Demand — that's the feedback back into orders.
Desired Workforce shows how backlog drives the hiring decision — the managerial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light on math — the professor knows the theory; show you understand the intuition.
For each equation: what goes in, what comes out, and why.
Highlight the nonlinear Delivery Delay function: "We used Utilization-squared to model congestion realism — as riders approach max capacity, delays grow faster than linearly."
Parameters were calibrated to represent a mid-size urban dark store with 20 baseline riders.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case = no policy change, no shocks. This is the reference mode.
Backlog stabilizes — not immediately, but after a transient. That transient is caused by delays.
Rider workforce shows the classic "overshoot and dip" — it drops initially before rising.
Inventory recovery shows the replenishment lag (4 hours) clearly.
Connect to real world: "Even without a demand shock, the system oscillates before settling. Now imagine a sudden spike..."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change clearly — one sentence.
Walk through "what happened" in simulation order: backlog first, then delay, then workforce, then inventory.
For "Why": always connect to feedback structure. Use phrases like "the B2 loop was overwhelmed" or "the delay in B2 meant correction came too late."
Real-world link grounds the simulation in actual business events the professor can verify.
Pause briefly after each scenario — let the insight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change clearly — one sentence.
Walk through "what happened" in simulation order: backlog first, then delay, then workforce, then inventory.
For "Why": always connect to feedback structure. Use phrases like "the B2 loop was overwhelmed" or "the delay in B2 meant correction came too late."
Real-world link grounds the simulation in actual business events the professor can verify.
Pause briefly after each scenario — let the insight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change clearly — one sentence.
Walk through "what happened" in simulation order: backlog first, then delay, then workforce, then inventory.
For "Why": always connect to feedback structure. Use phrases like "the B2 loop was overwhelmed" or "the delay in B2 meant correction came too late."
Real-world link grounds the simulation in actual business events the professor can verify.
Pause briefly after each scenario — let the insight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change clearly — one sentence.
Walk through "what happened" in simulation order: backlog first, then delay, then workforce, then inventory.
For "Why": always connect to feedback structure. Use phrases like "the B2 loop was overwhelmed" or "the delay in B2 meant correction came too late."
Real-world link grounds the simulation in actual business events the professor can verify.
Pause briefly after each scenario — let the insight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change clearly — one sentence.
Walk through "what happened" in simulation order: backlog first, then delay, then workforce, then inventory.
For "Why": always connect to feedback structure. Use phrases like "the B2 loop was overwhelmed" or "the delay in B2 meant correction came too late."
Real-world link grounds the simulation in actual business events the professor can verify.
Pause briefly after each scenario — let the insight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change clearly — one sentence.
Walk through "what happened" in simulation order: backlog first, then delay, then workforce, then inventory.
For "Why": always connect to feedback structure. Use phrases like "the B2 loop was overwhelmed" or "the delay in B2 meant correction came too late."
Real-world link grounds the simulation in actual business events the professor can verify.
Pause briefly after each scenario — let the insight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change clearly — one sentence.
Walk through "what happened" in simulation order: backlog first, then delay, then workforce, then inventory.
For "Why": always connect to feedback structure. Use phrases like "the B2 loop was overwhelmed" or "the delay in B2 meant correction came too late."
Real-world link grounds the simulation in actual business events the professor can verify.
Pause briefly after each scenario — let the insight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heart of the presentation — slow down here.
Insight 1 is the Forrester principle: "It is not the stocks or the policies, it is the delays that cause oscillation."
Insight 2 shows that feedback is not inherently stabilizing — loop gain matters.
Insight 3 is the managerial takeaway: continuous capacity alignment is needed, not one-time planning.
These three insights are what distinguishes a System Dynamics study from a simple operations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policy is directly traceable to a scenario result — make those connections explicit.
Policy 1 → Scenario 4 (workforce adjustment time).
Policy 2 → Scenario 3 (flexible workforce).
Policy 3 → Scenario 6 (attrition bottleneck revealed inventory gap).
Policy 4 → Scenario 7 (discount-induced surge).
Emphasize: "These are not intuitive recommendations — they are structurally derived from the model."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limitations proactively demonstrates intellectual maturity — professors respect this.
The key message: "We know what we simplified, and why. The structural insights hold despite aggregation."
Mention that each limitation is a specific, addressable modeling choice — not a fundamental flaw.
The aggregate model captures the feedback structure correctly even if parameter values are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slide with confidence and conviction — it is your finale.
Do not read bullet by bullet — synthesize: "Three things we proved: delays cause oscillations, flexible workforce works, SD reveals structure."
The closing quote is your contribution — it encapsulates the philosophy of the entire project.
Invite questions with confidence: "We have run 7 scenarios and tested 4 distinct policies — we're ready to go deep on any aspect."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shows the professor that you understand the model's limitations AND have a clear intellectual path forward.
Priority future work: stochastic demand (most achievable) and multi-store network (highest impact).
Rider satisfaction loop is the most intellectually interesting — it creates an endogenous workforce instability.
If asked: "Given more time, we would prioritize stochastic demand and rider satisfaction feedback — both addressable in Vensim with moderate effort."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Invite specific questions on any scenario or modeling choice.
Be ready for: "Why balancing loops only — no reinforcing?" Answer: The system is designed to be self-correcting; reinforcing elements (like word-of-mouth demand growth) exist but were out of scope.
Be ready for: "How were parameters chosen?" Answer: Calibrated to represent a mid-sized urban dark store; not from proprietary data but from industry-level estimates and literature.
Be ready for: "What's the most important policy insight?" Answer: Reduce workforce adjustment time — it has the highest leverage on system stability with minimal structural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77A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0" y="548640"/>
            <a:ext cx="182880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65760"/>
            <a:ext cx="237744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IE604 · System Dynamics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86868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Service-Level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in Quick Commerce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6576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Dynamics Study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3703320"/>
            <a:ext cx="4114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Thinker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Shukla (25M1542)  |  Bhupesh Ranjan Jha (25M1541)  |  Motupalli Hemanth Kumar (25M1512)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Faculty, IIT / Host Institution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The Quick Commerce Challenge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problem matter in today's world?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8046720" y="10058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51560"/>
            <a:ext cx="26517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Promise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324612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growth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2461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Q-Commerce since 2020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051560"/>
            <a:ext cx="26517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₹50B+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12648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India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Pressure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" y="2606040"/>
            <a:ext cx="8412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Blinkit, Zepto, Instamart promise delivery in under 20 minutes — a radical operational commitment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spikes during Diwali, cricket matches, rain events — often 2–4× base demand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workforce cannot scale instantly → orders pile up → customers face delays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struggle: hire too slow, inventory runs out, service degrades → customer churn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data problem — it is a structural, feedback-driven problem requiring SD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exact operational challenge we study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Operational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backlog accumulates when demand exceeds fulfillment capacity — even briefly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and inventory adjustments involve delays → system cannot react instantly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between service quality and future demand creates self-reinforcing cycles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oscillations in backlog, rider utilization, and service level — not a static trade-off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15468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18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System Dynamics?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0215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OR models assume steady-state. Quick commerce is inherently dynamic. SD captures delays, feedback loops, and time-varying behavior that cause instability — and shows how policies interact over 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3154680"/>
            <a:ext cx="4206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3154680"/>
            <a:ext cx="64008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2186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3502152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capacity decisions, workforce adjustment delays, and inventory policies interact to create service-level instability — and which structural interventions restore stability?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key components and how do they connect?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61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673352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fulfill backlog orders. Delivery delay rises with capacity utilization. Determines Service Level.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280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261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18888" y="1673352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hired/attrited dynamically. Hiring takes time (Adjustment Time = 5h). Drives fulfillment capacity.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200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29768" y="3593592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store stock. Replenished via supplier lead time (4h). Constrains order dispatch when low.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301752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004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18888" y="3593592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orders/hour. Sensitive to service level. Can surge 2× during peak events.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Operational 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structural instability in quick commerce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161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88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Variability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9768" y="16002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fluctuate 2–4× between off-peak and festive peaks. System must absorb shocks without persistent backlog buildup.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2161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188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Adjustment Delay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18888" y="16002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takes 5 hours on average. System cannot respond instantly to demand surges → backlog spikes before riders arrive.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1821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Lead Time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29768" y="35661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from supplier takes ~4 hours. Stockouts can constrain fulfillment even when riders are available.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301752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18211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5780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Utilization Trap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818888" y="35661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utilization → longer delays → lower service → demand drop → underutilization. Oscillations arise from this cycle.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System Dynamics?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is as important as the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23444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53312"/>
            <a:ext cx="713232" cy="713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697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explicitly models circular causality: backlog → delay → demand → backlog. Traditional models assume open-loop cause-effect.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09728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23360" y="123444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53312"/>
            <a:ext cx="713232" cy="7132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Delays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2697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delay, replenishment delay, and response delay are first-class model elements in SD — not simplifications away.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03720" y="1234440"/>
            <a:ext cx="914400" cy="9144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53312"/>
            <a:ext cx="713232" cy="7132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Dynamics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2697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Oscillations, overshoot, and collapse emerge from SD simulation — invisible in linear optimization or static analysis.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1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"Structure drives behavior — before designing policy, understand the feedback architecture."  — Sterman (2000)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of the System Dynamics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920240" cy="91440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1920240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926080"/>
            <a:ext cx="192024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192024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16459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920240" cy="2926080"/>
          </a:xfrm>
          <a:prstGeom prst="rect">
            <a:avLst/>
          </a:prstGeom>
          <a:solidFill>
            <a:srgbClr val="FFF0E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Feedback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B1: Demand–Service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B2: Workforce Adj.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B3: Capacity Util.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B4: Inventory Rep.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B5: Inv.–Fulfillment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B6: Attrition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Time Unit: Hours  |  Stocks: 3 (Backlog, Workforce, Inventory)  |  Tool: Vensim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Loop Diagram (CLD)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balancing feedback loops govern system behavior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18288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828800" cy="64008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3017520"/>
            <a:ext cx="182880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3017520"/>
            <a:ext cx="18288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182880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1920240"/>
            <a:ext cx="182880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32004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160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Demand–Service  [Balancing]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4160520"/>
            <a:ext cx="32004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4160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Adj.  [Balancing]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4160520"/>
            <a:ext cx="320040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4160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Util.  [Balancing]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572000"/>
            <a:ext cx="32004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5720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Rep.  [Balancing]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4572000"/>
            <a:ext cx="32004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45720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4572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Inv.–Fulfillment  [Balancing]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4572000"/>
            <a:ext cx="320040" cy="2560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45720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4572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 [Balancing]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All 6 loops are BALANCING — each corrects a deviation from desired state, but with delays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Stock-and-Flow Diagram (SFD)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structure of the system in Vensim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0116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 [orders]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011680" cy="822960"/>
          </a:xfrm>
          <a:prstGeom prst="rect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 [riders]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188720"/>
            <a:ext cx="2011680" cy="822960"/>
          </a:xfrm>
          <a:prstGeom prst="rect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 [orders]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In: Order Arrival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Out: Fulfillment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In: Hiring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Out: Attrition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In: Replenishment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Out: Dispatch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9718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Auxiliary Variables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Capacity = Workforce × Productivity (3 orders/hr/rider)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Utilization = Fulfillment Rate ÷ Delivery Capacity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= Base Delay × (1 + Utilization²)   [nonlinear congestion]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= Target Delay ÷ Delivery Delay   [bounded 0–1]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Workforce = Backlog ÷ (Target Delay × Productivity)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Formulation (Simplified)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 and their operational intuition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Equations (Vensim INTEG)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850392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= INTEG(Arrival − Fulfillment,  50)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Orders pile up when demand &gt; capacity. Initial = 50 orders.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850392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50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Workforce = INTEG(Hiring − Attrition,  20)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Riders join via hiring, leave via attrition. Initial = 20 riders.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291840"/>
            <a:ext cx="850392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64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= INTEG(Replenishment − Dispatch,  200)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12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Stock replenished periodically, consumed on fulfillment. Initial = 200.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315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Demand: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orders/hr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Adj. Time: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hours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Fraction: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0.05/hr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Lead Time: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48840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orders/hr/rider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Delay: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01000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hours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Behavior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under steady baseline demand (25 orders/hr)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61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Order Backlog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initially due to adjustment delays, then stabilizes as fulfillment capacity matches demand.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161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  Rider Workforce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52704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slightly due to attrition, recovers via hiring, stabilizes near required capacity (~15 riders).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Inventory Level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initially as orders are dispatched, recovers as replenishment responds to gap.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Capacity Utilization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44728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quickly as demand approaches capacity, stabilizes near equilibrium as workforce adjusts.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Insight: Even in the base case, adjustment delays produce transient oscillations before equilibrium — a signature of SD feedback systems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Demand Surge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demand increased from 25 → 40 orders/hr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6420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60% increase in order volume — simulating a festive day or heavy rain event.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backlog spikes sharply — peaks 2× higher, oscillations amplify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hits maximum — service level collapses and stays low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workforce rises, but hiring delay (5h) means capacity lags badly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depletes faster — stabilizes at a lower level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(System Explanation)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workforce adjustment cannot absorb the demand shock. Feedback loops are overwhelmed — system enters high-backlog, low-service equilibrium.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291840"/>
            <a:ext cx="64008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Real-World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/ Zepto during Diwali: delivery ETAs jump from 12 min → 45+ min. Riders overloaded. Cancellations spike.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Peak Demand with Recovery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demand: rises in stages then decreases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6420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demand pattern — models intraday fluctuation (morning low → evening peak → night low).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rises during peaks, clears during off-peak — cyclical behavior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recovery ability — unlike demand surge, no permanent high-backlog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workforce overshoots: hiring continues after demand drops → temporary overcapacity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cycles in sync with demand, showing partial resilience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(System Explanation)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possible, but the workforce overshoots due to hiring momentum — a classic overshoot dynamic in SD.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291840"/>
            <a:ext cx="64008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Real-World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demand cycles on Zepto: evening peak (6–9 PM) causes delays; system recovers after midnight. But companies often overstaff the next morning.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Flexible Workforce Policy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factor added: workforce temporarily scales during peak demand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6420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policy: surge multiplier increases desired workforce during demand spikes, mimicking gig worker deployment.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reduced substantially — peak values lower, stabilization faster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controlled — service level maintained near target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adjusts dynamically — no significant overshoot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remains stable — improved coordination of supply and demand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1463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(System Explanation)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capacity scaling beats reactive hiring. The surge factor reduces the effective delay in workforce response.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291840"/>
            <a:ext cx="64008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Real-World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surge pricing and Swiggy Instamart incentive bonuses attract gig workers during peak hours — real-world implementation of this policy.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4: Workforce Adjustment Time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time reduced from 5 hours → 3 hours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6420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change: faster hiring/onboarding reduces the core delay in the B2 loop.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peaks are significantly lower — faster stabilization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drops, service level improves and holds earlier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workforce reaches required level without extended oscillation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fluctuations reduced — better coordination achieved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146304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(System Explanation)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adjustment time = shorter loop delay = less oscillation. This is the cleanest example of the delay-oscillation relationship in SD.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291840"/>
            <a:ext cx="64008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Real-World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Quick-onboarding gig platforms (Rapido, Dunzo) with pre-verified rider pools can deploy in &lt;2 hours vs. traditional hiring at 5+ hours.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5: Service-Sensitive Demand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∝ Service Level² (nonlinear, highly price-sensitive customers)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6420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demand function: customers highly sensitive to service — demand drops sharply when quality deteriorates.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clears faster — demand self-regulates when service degrades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controlled — reduced load prevents excessive congestion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stabilizes faster — lower system stress overall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shows smoother behavior — fewer demand shocks to absorb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(System Explanation)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customers switch apps immediately on delay, demand drops → backlog clears → self-healing. The feedback dampens rather than amplifies.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291840"/>
            <a:ext cx="64008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Real-World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High-churn quick commerce users (especially in metros): a single 25-min delay leads to platform switching. Effectively limits backlog naturally.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6: Rider Attrition (High Work Pressure)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fraction increased from 0.05 → 0.15 (3× higher turnover)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6420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 rider walkout or burnout crisis — workforce shrinks faster than hiring can replace.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workforce declines sharply — delivery capacity collapses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surges — system cannot fulfill incoming orders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deteriorates severely — prolonged recovery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available but unused — bottleneck shifts from inventory to workforce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1463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(System Explanation)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creates a reinforcing drain on capacity. The B6 attrition loop overwhelms the B2 hiring loop — system destabilizes.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291840"/>
            <a:ext cx="64008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Real-World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2022–23: Blinkit / Zepto riders protested over pay and pressure. Platform delivery capacity dropped 30–40% during strikes. This is that scenario.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7: Demand Surge from Discounts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demand increased from 25 → 45 orders/hr (promotional campaign)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6420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discount/promo drives demand 80% above baseline — a common growth strategy in quick commerce.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spikes sharply — higher than Scenario 1, slower stabilization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rise significantly — severe congestion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collapses — customer experience degrades during the promo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depletes rapidly — replenishment cannot keep up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9184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(System Explanation)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create demand without proportionally creating capacity. The gap between demand and fulfillment is wider and sustained.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206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3291840"/>
            <a:ext cx="64008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55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Real-World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Blinkit's Big Billion Day / Instamart 'Zomato Gold' launch days: massive order surges → app crashes, 60+ min delays, cancellations.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System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simulation reveals about system 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23444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353312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230428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→ Oscillations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2788920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instability — backlog spikes, workforce overshoot, inventory depletion — traces back to a delay inside a feedback loop. Remove the delay, remove the oscillation.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097280"/>
            <a:ext cx="265176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23360" y="123444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1353312"/>
            <a:ext cx="676656" cy="676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64408" y="230428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Amplification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64408" y="2788920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feedback can either stabilize (B1) or amplify (B3) instability depending on the loop gain and delay. The same feedback structure produces different behaviors under different conditions.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097280"/>
            <a:ext cx="265176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03720" y="123444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353312"/>
            <a:ext cx="676656" cy="676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4768" y="230428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Mismatch → Backlog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44768" y="2788920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desired and actual capacity diverge — even briefly — backlog accumulates. The system requires continuous alignment of workforce and demand, not just one-time sizing.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interventions that improve service-level stability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16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Hiring Pipelines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6459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workforce adjustment time via pre-vetted gig worker pools. Even cutting from 5h → 3h dramatically reduces backlog oscillations (Scenario 4).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216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Surge Workforce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00600" y="16459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demand-sensitive workforce policies (surge multiplier). Proactive scaling outperforms reactive hiring — proven in Scenario 3.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Inventory Buffers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11480" y="36118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safety inventory above target to absorb demand spikes without stockouts. Reduces bottleneck shift from workforce to inventory.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004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Demand Scaling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00600" y="36118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simultaneous discount campaigns and peak periods. Stagger demand stimulation to stay within fulfillment capacity envelope.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simplifications and scope boundaries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Representation:,true,0077A8 All orders and riders treated as homogeneous — individual-level routing, experience, or product variation not modeled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Rider Productivity:,true,0077A8 Fixed at 3 orders/hr regardless of traffic, weather, or fatigue — real productivity varies significantly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Disruptions:,true,0077A8 Traffic jams, app outages, weather events, and supply chain disruptions excluded from base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Replenishment:,true,0077A8 Inventory restocked at constant rate — real systems have variable lead times and minimum order quantities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Demand:,true,0077A8 Base demand is fixed; stochastic variation (random spikes, cancellations) not modeled in most scenarios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Dark Store:,true,0077A8 Model represents one location — network effects, demand redistribution, and multi-store dynamics excluded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do not invalidate insights — they define the model's scope and suggest directions for extension (see Future Work)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657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this System Dynamics study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88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instability is structural — driven by feedback loops with embedded delays, not random events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4767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874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shows that workforce adjustment delay is the primary driver of backlog oscillations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560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proactive workforce policies outperform reactive hiring — proven across multiple scenarios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19272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246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uniquely reveals how feedback, delays, and nonlinearity interact to produce instability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05072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design must target loop delays and structure — not just resource quantities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320040" y="4663440"/>
            <a:ext cx="8503920" cy="3017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9"/>
          <p:cNvSpPr/>
          <p:nvPr/>
        </p:nvSpPr>
        <p:spPr>
          <a:xfrm>
            <a:off x="365760" y="466344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"Stability is not achieved by eliminating demand variability — it is achieved by designing systems that absorb it gracefully."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model toward greater realism and applicability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61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Demand Modeling: 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4447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random demand shocks (Poisson arrivals, Brownian motion) to test policy robustness under uncertainty rather than deterministic scenarios.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476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Network Dynamics: 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220370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demand redistribution across dark stores — overflow routing, shared inventory, and network-level capacity balancing.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0662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679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Rider Productivity: 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22960" y="29626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productivity a function of traffic density, weather, and fatigue — capturing real-world degradation during peak operations.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6557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Satisfaction Feedback: 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22960" y="3721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endogenous attrition model where high utilization drives higher attrition — closing the loop between operational pressure and workforce stability.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224528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4197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Logistics &amp; Routing: 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22960" y="44805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last-mile routing constraints, pick-and-pack time, zone-level demand density, and real map data for higher-fidelity simulation.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077A8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0" y="1097280"/>
            <a:ext cx="164592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457200" y="306324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modeled 3 stocks · 6 flows · 6 feedback loops · 7 scenarios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Shukla  </a:t>
            </a:r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Bhupesh Ranjan Jha  </a:t>
            </a:r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Motupalli Hemanth Kumar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System Thinker  |  IE604 System Dynamics  |  IIT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Capacity and Service-Level Stability in Quick Commerce Delivery Networks</dc:title>
  <dc:subject>PptxGenJS Presentation</dc:subject>
  <dc:creator>System Thinker</dc:creator>
  <cp:lastModifiedBy>System Thinker</cp:lastModifiedBy>
  <cp:revision>1</cp:revision>
  <dcterms:created xsi:type="dcterms:W3CDTF">2026-05-01T10:07:14Z</dcterms:created>
  <dcterms:modified xsi:type="dcterms:W3CDTF">2026-05-01T10:07:14Z</dcterms:modified>
</cp:coreProperties>
</file>